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e16ed41b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g2ce16ed41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9" name="Google Shape;19;p12"/>
          <p:cNvSpPr txBox="1"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BFF1A2-88F2-4511-A600-098773B6F043}" type="datetime1">
              <a:rPr lang="en-US" smtClean="0"/>
            </a:fld>
            <a:endParaRPr lang="en-US" smtClean="0"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FF6910-5D60-451B-8AA8-2BB70799CFD4}" type="datetime1">
              <a:rPr lang="en-US" smtClean="0"/>
            </a:fld>
            <a:endParaRPr lang="en-US" smtClean="0"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181229-52A0-4B4D-A361-FEAB5F03D21A}" type="datetime1">
              <a:rPr lang="en-US" smtClean="0"/>
            </a:fld>
            <a:endParaRPr lang="en-US" smtClean="0"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0DE556-9B06-4769-A3D3-1387CF7B8CB8}" type="datetime1">
              <a:rPr lang="en-US" smtClean="0"/>
            </a:fld>
            <a:endParaRPr lang="en-US" smtClean="0"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196B0B-D215-463E-9EE4-F62DD7303872}" type="datetime1">
              <a:rPr lang="en-US" smtClean="0"/>
            </a:fld>
            <a:endParaRPr lang="en-US" smtClean="0"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AEEE44C-A58B-4F82-A3CF-F02B0BEB308A}" type="datetime1">
              <a:rPr lang="en-US" smtClean="0"/>
            </a:fld>
            <a:endParaRPr lang="en-US" smtClean="0"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6FFB19B-63F8-4D04-93A8-9EE0352B04F9}" type="datetime1">
              <a:rPr lang="en-US" smtClean="0"/>
            </a:fld>
            <a:endParaRPr lang="en-US" smtClean="0"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AFD539D-4735-4D2F-95AC-45CC9E7715AC}" type="datetime1">
              <a:rPr lang="en-US" smtClean="0"/>
            </a:fld>
            <a:endParaRPr lang="en-US" smtClean="0"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A3117A1-E607-4972-86C3-9CA9BE868F25}" type="datetime1">
              <a:rPr lang="en-US" smtClean="0"/>
            </a:fld>
            <a:endParaRPr lang="en-US" smtClean="0"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42D2B04-CA59-489D-8ACC-574EB5480468}" type="datetime1">
              <a:rPr lang="en-US" smtClean="0"/>
            </a:fld>
            <a:endParaRPr lang="en-US" smtClean="0"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A028A0-5814-4E0F-9FA5-846F2071952A}" type="datetime1">
              <a:rPr lang="en-US" smtClean="0"/>
            </a:fld>
            <a:endParaRPr lang="en-US" smtClean="0"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2" name="Google Shape;12;p11"/>
          <p:cNvSpPr/>
          <p:nvPr/>
        </p:nvSpPr>
        <p:spPr>
          <a:xfrm>
            <a:off x="812800" y="1566864"/>
            <a:ext cx="10610851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13" name="Google Shape;13;p1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fld id="{7A71105A-7811-4DF9-AFE0-C623CDF6580F}" type="datetime1">
              <a:rPr lang="en-US" smtClean="0"/>
            </a:fld>
            <a:endParaRPr lang="en-US" smtClean="0"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r>
              <a:rPr lang="en-IN"/>
              <a:t>ICCDS-2026</a:t>
            </a:r>
            <a:endParaRPr lang="en-IN"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35965" y="266324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Verdana" panose="020B0604030504040204"/>
              <a:buNone/>
            </a:pPr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NEON CYBER-GRID : PAYLOAD ESCORT</a:t>
            </a:r>
            <a:endParaRPr lang="en-IN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89063" y="4262136"/>
            <a:ext cx="10322700" cy="26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lang="en-IN" sz="2400" b="1" dirty="0">
              <a:solidFill>
                <a:schemeClr val="accent5"/>
              </a:solidFill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 panose="020B0604030504040204"/>
                <a:ea typeface="Verdana" panose="020B0604030504040204"/>
                <a:sym typeface="Verdana" panose="020B0604030504040204"/>
              </a:rPr>
              <a:t>College Name: RAJALAKSHMI ENGINEERING COLLEGE</a:t>
            </a:r>
            <a:endParaRPr lang="en-IN" sz="2400" b="1" dirty="0">
              <a:solidFill>
                <a:schemeClr val="accent5"/>
              </a:solidFill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 panose="020B0604030504040204"/>
              <a:ea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 panose="020B0604030504040204"/>
                <a:ea typeface="Verdana" panose="020B0604030504040204"/>
                <a:sym typeface="Verdana" panose="020B0604030504040204"/>
              </a:rPr>
              <a:t>Presented By: </a:t>
            </a:r>
            <a:endParaRPr lang="en-IN" sz="2400" b="1" dirty="0">
              <a:solidFill>
                <a:schemeClr val="accent6"/>
              </a:solidFill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 panose="020B0604030504040204"/>
                <a:ea typeface="Verdana" panose="020B0604030504040204"/>
                <a:sym typeface="Verdana" panose="020B0604030504040204"/>
              </a:rPr>
              <a:t>240701088 - B R CHARISHMA PRIYADARSHINI</a:t>
            </a:r>
            <a:endParaRPr lang="en-IN" sz="2400" b="1" dirty="0">
              <a:solidFill>
                <a:schemeClr val="accent6"/>
              </a:solidFill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 panose="020B0604030504040204"/>
                <a:ea typeface="Verdana" panose="020B0604030504040204"/>
                <a:sym typeface="Verdana" panose="020B0604030504040204"/>
              </a:rPr>
              <a:t>240701098 - DEEBAC Y K</a:t>
            </a:r>
            <a:endParaRPr lang="en-IN" sz="2400" b="1" dirty="0">
              <a:solidFill>
                <a:schemeClr val="accent5"/>
              </a:solidFill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 panose="020B0604030504040204"/>
              <a:ea typeface="Verdana" panose="020B060403050404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98375" y="1167250"/>
            <a:ext cx="114627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Rockwell" panose="02060603020205020403"/>
              <a:buNone/>
            </a:pPr>
            <a:r>
              <a:rPr lang="en-US" sz="2400" b="1" dirty="0">
                <a:solidFill>
                  <a:srgbClr val="7030A0"/>
                </a:solidFill>
                <a:latin typeface="Rockwell" panose="02060603020205020403"/>
                <a:ea typeface="Rockwell" panose="02060603020205020403"/>
                <a:cs typeface="Rockwell" panose="02060603020205020403"/>
                <a:sym typeface="Rockwell" panose="02060603020205020403"/>
              </a:rPr>
              <a:t>CS23533-FOUNDATIONS OF ARTIFICIAL INTELLIGENCE</a:t>
            </a:r>
            <a:endParaRPr sz="3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119513" y="84475"/>
            <a:ext cx="6061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 panose="02060603020205020403"/>
                <a:ea typeface="Rockwell" panose="02060603020205020403"/>
                <a:cs typeface="Rockwell" panose="02060603020205020403"/>
                <a:sym typeface="Rockwell" panose="02060603020205020403"/>
              </a:rPr>
              <a:t>Department of Computer Science and Engineering </a:t>
            </a:r>
            <a:endParaRPr sz="1800" b="1" dirty="0">
              <a:solidFill>
                <a:srgbClr val="002060"/>
              </a:solidFill>
              <a:latin typeface="Rockwell" panose="02060603020205020403"/>
              <a:ea typeface="Rockwell" panose="02060603020205020403"/>
              <a:cs typeface="Rockwell" panose="02060603020205020403"/>
              <a:sym typeface="Rockwell" panose="020606030202050204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 panose="02060603020205020403"/>
                <a:ea typeface="Rockwell" panose="02060603020205020403"/>
                <a:cs typeface="Rockwell" panose="02060603020205020403"/>
                <a:sym typeface="Rockwell" panose="02060603020205020403"/>
              </a:rPr>
              <a:t>Organizes</a:t>
            </a:r>
            <a:endParaRPr sz="1800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071" y="-1492"/>
            <a:ext cx="3030827" cy="1032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762008" y="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List of Content</a:t>
            </a:r>
            <a:endParaRPr lang="en-IN" sz="3600" b="1">
              <a:solidFill>
                <a:srgbClr val="FF0000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762001" y="1695449"/>
            <a:ext cx="10668000" cy="438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work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Architecture</a:t>
            </a:r>
            <a:endParaRPr lang="en-IN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Discussions</a:t>
            </a:r>
            <a:endParaRPr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 panose="02020603050405020304"/>
              <a:buChar char="□"/>
            </a:pPr>
            <a:r>
              <a:rPr lang="en-IN" sz="240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 </a:t>
            </a:r>
            <a:br>
              <a:rPr lang="en-IN" sz="240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240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 panose="020B0604030504040204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IN" sz="3200" b="1">
                <a:solidFill>
                  <a:srgbClr val="FF0000"/>
                </a:solidFill>
              </a:rPr>
              <a:t>Abstract</a:t>
            </a:r>
            <a:endParaRPr sz="280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Clr>
                <a:srgbClr val="CC0000"/>
              </a:buClr>
              <a:buSzPts val="2000"/>
              <a:buNone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Neon Cyber-Grid: Payload Escort project is an interactive web-based simulation that demonstrates secure data packet routing through hostile network environments using Artificial Intelligence (AI) algorithms. The player guides a valuable data packet from the source to its destination while avoiding threats from an adversary called the “Grid Master.”The system uses Uniform Cost Search (UCS) and A Search* for optimal pathfinding and Alpha-Beta Pruning for adversarial decision-making. Developed using HTML5, CSS3, and JavaScript, the application provides real-time route calculation, threat monitoring, and telemetry tracking. This project demonstrates how AI algorithms can improve network routing and security in dynamic threat environments.</a:t>
            </a:r>
            <a:endParaRPr lang="en-US" altLang="en-US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 panose="020B0604030504040204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FF0000"/>
                </a:solidFill>
              </a:rPr>
              <a:t>Introduction</a:t>
            </a:r>
            <a:endParaRPr sz="2800"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An interactive AI-based simulation that demonstrates secure data routing through hostile network environments.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Guide a valuable data packet from its source to an upload server while avoiding cyber threats.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Uses Uniform Cost Search (UCS) and A Search* to find optimal routes and minimize routing costs.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Uses Alpha-Beta Pruning to control the hostile opponent, known as the “Grid Master</a:t>
            </a:r>
            <a:r>
              <a:rPr lang="en-IN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”</a:t>
            </a: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 panose="020B0604030504040204"/>
              <a:buNone/>
            </a:pP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IN" sz="2800" b="1">
                <a:solidFill>
                  <a:srgbClr val="FF0000"/>
                </a:solidFill>
              </a:rPr>
              <a:t>Literature Survey</a:t>
            </a:r>
            <a:endParaRPr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758952" y="1783080"/>
          <a:ext cx="10671048" cy="3425952"/>
        </p:xfrm>
        <a:graphic>
          <a:graphicData uri="http://schemas.openxmlformats.org/drawingml/2006/table">
            <a:tbl>
              <a:tblPr firstRow="1"/>
              <a:tblGrid>
                <a:gridCol w="2468880"/>
                <a:gridCol w="4114800"/>
                <a:gridCol w="408736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Approach</a:t>
                      </a:r>
                      <a:endParaRPr lang="en-IN" sz="1600" b="1" i="0" dirty="0">
                        <a:solidFill>
                          <a:srgbClr val="FFFFFF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Main idea</a:t>
                      </a:r>
                      <a:endParaRPr lang="en-IN" sz="1600" b="1" i="0" dirty="0">
                        <a:solidFill>
                          <a:srgbClr val="FFFFFF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Limitation</a:t>
                      </a:r>
                      <a:endParaRPr lang="en-IN" sz="1600" b="1" i="0" dirty="0">
                        <a:solidFill>
                          <a:srgbClr val="FFFFFF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CC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Breadth-First Search</a:t>
                      </a:r>
                      <a:endParaRPr lang="en-IN" sz="1600" b="1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Expands level by level; fewest edges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Ignores distances, so not the shortest path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Dijkstra (1959)</a:t>
                      </a:r>
                      <a:endParaRPr lang="en-IN" sz="1600" b="1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Expands the lowest-cost node first; optimal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Explores in all directions, no goal knowledge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Greedy Best-First</a:t>
                      </a:r>
                      <a:endParaRPr lang="en-IN" sz="1600" b="1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Uses only h(n) to head towards the goal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Fast, but not guaranteed optimal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A* (Hart et al., 1968)</a:t>
                      </a:r>
                      <a:endParaRPr lang="en-IN" sz="1600" b="1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f(n) = g(n) + h(n); optimal when h is admissible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Needs a good heuristic (we use straight-line distance)</a:t>
                      </a:r>
                      <a:endParaRPr lang="en-IN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D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600" b="1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Alpha-Beta Pruning</a:t>
                      </a:r>
                      <a:endParaRPr lang="en-US" altLang="en-US" sz="1600" b="1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Prunes unpromising</a:t>
                      </a:r>
                      <a:r>
                        <a:rPr lang="en-IN" altLang="en-US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branches in minimax trees.</a:t>
                      </a:r>
                      <a:endParaRPr lang="en-US" altLang="en-US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Requires a well-defined state evaluation function.</a:t>
                      </a:r>
                      <a:endParaRPr lang="en-US" altLang="en-US" sz="1600" b="0" i="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>
                    <a:lnL w="12700">
                      <a:solidFill>
                        <a:srgbClr val="E3B5C0"/>
                      </a:solidFill>
                    </a:lnL>
                    <a:lnR w="12700">
                      <a:solidFill>
                        <a:srgbClr val="E3B5C0"/>
                      </a:solidFill>
                    </a:lnR>
                    <a:lnT w="12700">
                      <a:solidFill>
                        <a:srgbClr val="E3B5C0"/>
                      </a:solidFill>
                    </a:lnT>
                    <a:lnB w="12700">
                      <a:solidFill>
                        <a:srgbClr val="E3B5C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Note 302"/>
          <p:cNvSpPr/>
          <p:nvPr/>
        </p:nvSpPr>
        <p:spPr>
          <a:xfrm>
            <a:off x="758952" y="5349240"/>
            <a:ext cx="10671048" cy="50292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Our choice: </a:t>
            </a:r>
            <a:r>
              <a:rPr lang="en-US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Our Choice: UCS </a:t>
            </a:r>
            <a:r>
              <a:rPr lang="en-IN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  alpha</a:t>
            </a:r>
            <a:r>
              <a:rPr lang="en-IN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-beta </a:t>
            </a:r>
            <a:r>
              <a:rPr lang="en-IN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en-US" altLang="en-US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Optimal pathfinding paired with adversarial game theory</a:t>
            </a:r>
            <a:r>
              <a:rPr lang="en-IN" sz="18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1800" b="1" i="0" dirty="0">
              <a:solidFill>
                <a:srgbClr val="CC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IN" sz="2800" b="1">
                <a:solidFill>
                  <a:srgbClr val="FF0000"/>
                </a:solidFill>
              </a:rPr>
              <a:t>Problem Statement</a:t>
            </a:r>
            <a:endParaRPr sz="2800"/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network grid consists of interconnected routing nodes with variable latency costs and firewall blockages.</a:t>
            </a:r>
            <a:endParaRPr lang="en-US" altLang="en-US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200"/>
              <a:buFont typeface="Noto Sans Symbols"/>
              <a:buNone/>
            </a:pPr>
            <a:endParaRPr lang="en-US" altLang="en-US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Moving critical payloads across untrusted nodes exposes data packets to destruction and dynamic interception by host</a:t>
            </a:r>
            <a:r>
              <a:rPr lang="en-IN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Engines.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Goal: Given an Origin node and Upload Server, deliver the data payload with Integrity &gt; 0% at minimum route c</a:t>
            </a:r>
            <a:r>
              <a:rPr lang="en-IN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US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The system must evaluate cost-optimal paths, adapt to dynamic firewall obstacles, and counter multi-step hostile AI</a:t>
            </a:r>
            <a:r>
              <a:rPr lang="en-IN" altLang="en-US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moves in real time.</a:t>
            </a:r>
            <a:endParaRPr lang="en-US" altLang="en-US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None/>
            </a:pP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Proposed Work</a:t>
            </a:r>
            <a:endParaRPr lang="en-IN" sz="2800" b="1">
              <a:solidFill>
                <a:srgbClr val="FF0000"/>
              </a:solidFill>
            </a:endParaRPr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000"/>
              <a:buFont typeface="Noto Sans Symbols"/>
              <a:buChar char="□"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Graph Model</a:t>
            </a:r>
            <a:r>
              <a:rPr lang="en-IN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: Network nodes represent data junctions (Optic = 1, Standard = 3, Encrypted = 8, Firewall =</a:t>
            </a:r>
            <a:r>
              <a:rPr lang="en-IN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infinity)</a:t>
            </a:r>
            <a:endParaRPr lang="en-IN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ts val="2000"/>
              <a:buFont typeface="Noto Sans Symbols"/>
              <a:buChar char="□"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Dynamic Pathfinding: Uses UCS and A* (f(n) = g(n) + h(n)) to determine minimum-cost delivery</a:t>
            </a:r>
            <a:r>
              <a:rPr lang="en-IN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trajectories</a:t>
            </a:r>
            <a:r>
              <a:rPr lang="en-IN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ts val="2000"/>
              <a:buFont typeface="Noto Sans Symbols"/>
              <a:buChar char="□"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Adversarial Engine: Grid Master AI evaluates grid threats using Alpha-Beta  Pruning at</a:t>
            </a:r>
            <a:r>
              <a:rPr lang="en-IN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search depth</a:t>
            </a:r>
            <a:r>
              <a:rPr lang="en-IN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ts val="2000"/>
              <a:buFont typeface="Noto Sans Symbols"/>
              <a:buChar char="□"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Interactive Canvas HUD: Choose path steps via WASD / mouse clicks or run automated turn steps.</a:t>
            </a:r>
            <a:r>
              <a:rPr lang="en-IN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lang="en-IN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ts val="2000"/>
              <a:buFont typeface="Noto Sans Symbols"/>
              <a:buChar char="□"/>
            </a:pPr>
            <a:r>
              <a:rPr lang="en-US" altLang="en-US" sz="20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Live Telemetry Panel: Tracks health ring (Integrity %), level, cycle count, total route cost, and real-time</a:t>
            </a:r>
            <a:endParaRPr lang="en-US" altLang="en-US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Clr>
                <a:srgbClr val="CC0000"/>
              </a:buClr>
              <a:buSzPts val="2000"/>
              <a:buFont typeface="Noto Sans Symbols"/>
              <a:buNone/>
            </a:pPr>
            <a:endParaRPr lang="en-IN" sz="20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FF0000"/>
                </a:solidFill>
              </a:rPr>
              <a:t>System Architecture</a:t>
            </a:r>
            <a:endParaRPr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2778760" y="30556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590" y="1961515"/>
            <a:ext cx="8846820" cy="3867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Methodology</a:t>
            </a:r>
            <a:endParaRPr sz="2800"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 panose="020B0604030504040204"/>
              <a:buNone/>
            </a:pPr>
            <a:r>
              <a:rPr lang="en-IN" sz="1200" b="0" i="0" u="none" strike="noStrike" cap="non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ICCS-2026</a:t>
            </a: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sp>
        <p:nvSpPr>
          <p:cNvPr id="313" name="Left 313"/>
          <p:cNvSpPr/>
          <p:nvPr/>
        </p:nvSpPr>
        <p:spPr>
          <a:xfrm>
            <a:off x="758825" y="1783080"/>
            <a:ext cx="5120640" cy="3894455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 w="19050">
            <a:solidFill>
              <a:srgbClr val="CC0000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22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Problem formulation</a:t>
            </a:r>
            <a:endParaRPr lang="en-IN" sz="2200" b="1" i="0" dirty="0">
              <a:solidFill>
                <a:srgbClr val="CC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900"/>
              </a:spcBef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State: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Position of payload </a:t>
            </a:r>
            <a:r>
              <a:rPr lang="en-IN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(x, y)  and enemy threat units on the grid.</a:t>
            </a:r>
            <a:endParaRPr lang="en-US" altLang="en-US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900"/>
              </a:spcBef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Initial state: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Origin</a:t>
            </a:r>
            <a:r>
              <a:rPr lang="en-IN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Node (0, 3)  with 100 % Payload Integrity.</a:t>
            </a:r>
            <a:endParaRPr lang="en-US" altLang="en-US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900"/>
              </a:spcBef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Goal test: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Payload reaches Upload Server (11, 4)  with Integrity &gt;0%.</a:t>
            </a:r>
            <a:endParaRPr lang="en-IN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900"/>
              </a:spcBef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Path cost: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Cumulative traversal cost across node types </a:t>
            </a:r>
            <a:endParaRPr lang="en-US" altLang="en-US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900"/>
              </a:spcBef>
              <a:buNone/>
            </a:pPr>
            <a:endParaRPr lang="en-IN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4" name="Right 314"/>
          <p:cNvSpPr/>
          <p:nvPr/>
        </p:nvSpPr>
        <p:spPr>
          <a:xfrm>
            <a:off x="6309360" y="1783080"/>
            <a:ext cx="5120640" cy="3829050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 w="19050">
            <a:solidFill>
              <a:srgbClr val="CC0000"/>
            </a:solidFill>
          </a:ln>
        </p:spPr>
        <p:txBody>
          <a:bodyPr wrap="square" lIns="164592" tIns="164592" rIns="164592" bIns="164592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IN" sz="2200" b="1" i="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A* algorithm</a:t>
            </a:r>
            <a:endParaRPr lang="en-IN" sz="2200" b="1" i="0" dirty="0">
              <a:solidFill>
                <a:srgbClr val="CC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altLang="en-US" sz="20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Evaluates f(n) = g(n) +</a:t>
            </a:r>
            <a:endParaRPr lang="en-US" altLang="en-US" sz="2000" i="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altLang="en-US" sz="20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h(n) , where h(n)  is</a:t>
            </a:r>
            <a:endParaRPr lang="en-US" altLang="en-US" sz="2000" i="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altLang="en-US" sz="20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Manhattan distance to the destination.</a:t>
            </a:r>
            <a:endParaRPr lang="en-US" altLang="en-US" sz="2000" i="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500"/>
              </a:spcBef>
              <a:buNone/>
            </a:pPr>
            <a:r>
              <a:rPr lang="en-IN" sz="18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Alpha-Beta Pruning :</a:t>
            </a:r>
            <a:endParaRPr lang="en-IN" sz="1800" b="1" i="0" dirty="0">
              <a:solidFill>
                <a:srgbClr val="CC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500"/>
              </a:spcBef>
              <a:buNone/>
            </a:pPr>
            <a:r>
              <a:rPr lang="en-US" altLang="en-US" sz="18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Prunes minimax search branche</a:t>
            </a:r>
            <a:r>
              <a:rPr lang="en-IN" altLang="en-US" sz="18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altLang="en-US" sz="1800" i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enabling rapid threat evaluation.</a:t>
            </a:r>
            <a:endParaRPr lang="en-US" altLang="en-US" sz="1800" i="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Results </a:t>
            </a:r>
            <a:endParaRPr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40" y="2329180"/>
            <a:ext cx="3460750" cy="3074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85" y="2328545"/>
            <a:ext cx="3161665" cy="3006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360" y="2327910"/>
            <a:ext cx="3284220" cy="3007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Conclusion</a:t>
            </a:r>
            <a:endParaRPr sz="2800"/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IN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A* finds the optimal shortest walking route on the campus graph and explains every step.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IN" sz="22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Tested:</a:t>
            </a:r>
            <a:r>
              <a:rPr lang="en-IN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same cost as Dijkstra for all 1190 place pairs, with fewer nodes explored.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IN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Complete working system in the browser: no ML, no backend, no paid API.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IN" sz="22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Limitations:</a:t>
            </a:r>
            <a:r>
              <a:rPr lang="en-IN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not traffic-aware; straight edges approximate curved paths; weak indoor GPS.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1100"/>
              </a:spcBef>
              <a:buClr>
                <a:srgbClr val="CC0000"/>
              </a:buClr>
              <a:buSzPts val="2200"/>
              <a:buFont typeface="Noto Sans Symbols"/>
              <a:buChar char="□"/>
            </a:pPr>
            <a:r>
              <a:rPr lang="en-IN" sz="2200" b="1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Future work:</a:t>
            </a:r>
            <a:r>
              <a:rPr lang="en-IN" sz="22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stairs and slope costs, accessibility routes, multiple stops, indoor maps, mobile app.</a:t>
            </a:r>
            <a:endParaRPr lang="en-IN" sz="22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e16ed41b5_0_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References</a:t>
            </a:r>
            <a:endParaRPr sz="2800"/>
          </a:p>
        </p:txBody>
      </p:sp>
      <p:sp>
        <p:nvSpPr>
          <p:cNvPr id="185" name="Google Shape;185;g2ce16ed41b5_0_0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Russell, S. and Norvig, P. (2020) Artificial Intelligence: A Modern Approach, 4th Edition, Pearson.</a:t>
            </a:r>
            <a:endParaRPr lang="en-IN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900"/>
              </a:spcBef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Hart, P. E., Nilsson, N. J. and Raphael, B. (1968) 'A Formal Basis for the Heuristic Determination of Minimum Cost</a:t>
            </a:r>
            <a:r>
              <a:rPr lang="en-IN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Paths', IEEE Transactions on Systems Science and Cybernetics, Vol. 4, No. 2, pp. 100–107.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lang="en-IN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900"/>
              </a:spcBef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3. Knuth, D. E. and Moore, R. W. (1975) 'An Analysis of Alpha-Beta Pruning', Artificial Intelligence, Vol. 6, No. 4, pp</a:t>
            </a:r>
            <a:r>
              <a:rPr lang="en-IN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293–326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IN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00050" indent="-400050" algn="l">
              <a:lnSpc>
                <a:spcPct val="100000"/>
              </a:lnSpc>
              <a:spcBef>
                <a:spcPts val="900"/>
              </a:spcBef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lang="en-US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Cormen, T. H., Leiserson, C. E., Rivest, R. L. and Stein, C. (2009) Introduction to Algorithms, 3rd Edition, MIT Pre</a:t>
            </a:r>
            <a:r>
              <a:rPr lang="en-IN" altLang="en-US" sz="1800" b="0" i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.</a:t>
            </a:r>
            <a:endParaRPr lang="en-IN" altLang="en-US" sz="1800" b="0" i="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4782</Words>
  <Application>WPS Presentation</Application>
  <PresentationFormat>Widescreen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Verdana</vt:lpstr>
      <vt:lpstr>Noto Sans Symbols</vt:lpstr>
      <vt:lpstr>Segoe Print</vt:lpstr>
      <vt:lpstr>Calibri</vt:lpstr>
      <vt:lpstr>Rockwell</vt:lpstr>
      <vt:lpstr>Times New Roman</vt:lpstr>
      <vt:lpstr>Microsoft YaHei</vt:lpstr>
      <vt:lpstr>Arial Unicode MS</vt:lpstr>
      <vt:lpstr>Profile</vt:lpstr>
      <vt:lpstr>PowerPoint 演示文稿</vt:lpstr>
      <vt:lpstr>List of Content</vt:lpstr>
      <vt:lpstr>Abstract</vt:lpstr>
      <vt:lpstr>Introduction</vt:lpstr>
      <vt:lpstr>Literature Survey</vt:lpstr>
      <vt:lpstr>Problem Statement</vt:lpstr>
      <vt:lpstr>Proposed Work</vt:lpstr>
      <vt:lpstr>System Architecture</vt:lpstr>
      <vt:lpstr>Methodology</vt:lpstr>
      <vt:lpstr>Results and Discussions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DURAIMURUGAN N</dc:creator>
  <cp:lastModifiedBy>Deekshitha</cp:lastModifiedBy>
  <cp:revision>8</cp:revision>
  <dcterms:created xsi:type="dcterms:W3CDTF">2024-04-19T11:43:00Z</dcterms:created>
  <dcterms:modified xsi:type="dcterms:W3CDTF">2026-10-25T10:50:39Z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DBB948F1D52C48FA8B8A88D7027F8F4D_12</vt:lpwstr>
  </property>
</Properties>
</file>